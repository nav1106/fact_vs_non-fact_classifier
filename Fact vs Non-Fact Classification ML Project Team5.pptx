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0" r:id="rId4"/>
    <p:sldId id="285" r:id="rId5"/>
    <p:sldId id="275" r:id="rId6"/>
    <p:sldId id="279" r:id="rId7"/>
    <p:sldId id="290" r:id="rId8"/>
    <p:sldId id="291" r:id="rId9"/>
    <p:sldId id="292" r:id="rId10"/>
    <p:sldId id="293" r:id="rId11"/>
    <p:sldId id="284" r:id="rId12"/>
    <p:sldId id="280" r:id="rId13"/>
    <p:sldId id="287" r:id="rId14"/>
    <p:sldId id="294" r:id="rId15"/>
    <p:sldId id="295" r:id="rId16"/>
    <p:sldId id="296" r:id="rId17"/>
    <p:sldId id="297" r:id="rId18"/>
    <p:sldId id="298" r:id="rId19"/>
    <p:sldId id="299" r:id="rId20"/>
    <p:sldId id="300" r:id="rId21"/>
  </p:sldIdLst>
  <p:sldSz cx="12192000" cy="9144000"/>
  <p:notesSz cx="9144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114F"/>
    <a:srgbClr val="DE1875"/>
    <a:srgbClr val="7D254E"/>
    <a:srgbClr val="541F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75D036-0BB4-4C2E-8B47-FFF978E2640C}" v="188" dt="2026-05-18T04:48:48.211"/>
    <p1510:client id="{FBB360E4-B1A2-4426-B611-DF0B9182C291}" v="743" dt="2026-05-17T16:54:13.9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2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C5A39-DC79-422F-BDDC-C5B8BF3F9A02}" type="datetimeFigureOut"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524000"/>
            <a:ext cx="54864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5867400"/>
            <a:ext cx="73152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39624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11580813"/>
            <a:ext cx="39624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7EDAA-A5B8-464C-B67F-0F69EC7AC48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1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68BB2-D89D-02D9-A6B0-0C9A4871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D4D6D-5442-8E36-FED4-59AAD9D74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D8F3D-0F52-09DC-360D-C53649AA3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0AC9C-B44F-F080-2D59-EC3902465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8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3548" y="1270000"/>
            <a:ext cx="10157791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/>
                <a:ea typeface="Quattrocento Sans" pitchFamily="34" charset="-122"/>
                <a:cs typeface="Times New Roman"/>
              </a:rPr>
              <a:t>Fact vs. Non-Fact Classification:</a:t>
            </a:r>
          </a:p>
          <a:p>
            <a:pPr algn="ctr">
              <a:lnSpc>
                <a:spcPct val="130000"/>
              </a:lnSpc>
            </a:pPr>
            <a:r>
              <a:rPr lang="en-US" sz="2400" dirty="0"/>
              <a:t>A Comparative Study of Pretrained &amp; Fine-tuned Transformer Embeddings with Traditional ML Classifiers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381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latin typeface="Times New Roman"/>
                <a:ea typeface="Quattrocento Sans" pitchFamily="34" charset="-122"/>
                <a:cs typeface="Times New Roman"/>
              </a:rPr>
              <a:t>Team No: 5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029335"/>
              </p:ext>
            </p:extLst>
          </p:nvPr>
        </p:nvGraphicFramePr>
        <p:xfrm>
          <a:off x="627529" y="4572000"/>
          <a:ext cx="8946855" cy="2032000"/>
        </p:xfrm>
        <a:graphic>
          <a:graphicData uri="http://schemas.openxmlformats.org/drawingml/2006/table">
            <a:tbl>
              <a:tblPr/>
              <a:tblGrid>
                <a:gridCol w="954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0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1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S.No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.</a:t>
                      </a: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Reg. No.</a:t>
                      </a: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Name of the student</a:t>
                      </a: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1</a:t>
                      </a:r>
                      <a:endParaRPr lang="en-US" sz="2400">
                        <a:solidFill>
                          <a:schemeClr val="tx1"/>
                        </a:solidFill>
                        <a:latin typeface="Times New Roman"/>
                        <a:ea typeface="QuattrocentoSans"/>
                        <a:cs typeface="Times New Roman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BL.SC.U4AIE24149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/>
                        <a:ea typeface="QuattrocentoSans"/>
                        <a:cs typeface="Times New Roman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Srinithi Misha M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/>
                        <a:ea typeface="QuattrocentoSans"/>
                        <a:cs typeface="Times New Roman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2</a:t>
                      </a:r>
                      <a:endParaRPr lang="en-US" sz="2400">
                        <a:solidFill>
                          <a:schemeClr val="tx1"/>
                        </a:solidFill>
                        <a:latin typeface="Times New Roman"/>
                        <a:ea typeface="QuattrocentoSans"/>
                        <a:cs typeface="Times New Roman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BL.SC.U4AIE24134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/>
                        <a:ea typeface="QuattrocentoSans"/>
                        <a:cs typeface="Times New Roman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Navnita Krishnan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/>
                        <a:ea typeface="QuattrocentoSans"/>
                        <a:cs typeface="Times New Roman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3</a:t>
                      </a:r>
                      <a:endParaRPr lang="en-US" sz="2400">
                        <a:solidFill>
                          <a:schemeClr val="tx1"/>
                        </a:solidFill>
                        <a:latin typeface="Times New Roman"/>
                        <a:ea typeface="QuattrocentoSans"/>
                        <a:cs typeface="Times New Roman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BL.SC.U4AIE24152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/>
                        <a:ea typeface="QuattrocentoSans"/>
                        <a:cs typeface="Times New Roman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Times New Roman"/>
                          <a:ea typeface="QuattrocentoSans"/>
                          <a:cs typeface="Times New Roman"/>
                        </a:rPr>
                        <a:t>Trisha Radhakrishnan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/>
                        <a:ea typeface="QuattrocentoSans"/>
                        <a:cs typeface="Times New Roman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A pink and white logo&#10;&#10;AI-generated content may be incorrect.">
            <a:extLst>
              <a:ext uri="{FF2B5EF4-FFF2-40B4-BE49-F238E27FC236}">
                <a16:creationId xmlns:a16="http://schemas.microsoft.com/office/drawing/2014/main" id="{224C5C23-C366-E742-09F0-06CC6A6F2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297" y="7508221"/>
            <a:ext cx="5223995" cy="164296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344706"/>
            <a:ext cx="1066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Problem Statement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2637118"/>
            <a:ext cx="9995647" cy="554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dirty="0">
                <a:highlight>
                  <a:srgbClr val="FFFFFF"/>
                </a:highlight>
              </a:rPr>
              <a:t>Given a sentence, predict whether it is a </a:t>
            </a:r>
            <a:r>
              <a:rPr lang="en-US" sz="2800" b="1" dirty="0">
                <a:highlight>
                  <a:srgbClr val="FFFFFF"/>
                </a:highlight>
              </a:rPr>
              <a:t>Fact</a:t>
            </a:r>
            <a:r>
              <a:rPr lang="en-US" sz="2800" dirty="0">
                <a:highlight>
                  <a:srgbClr val="FFFFFF"/>
                </a:highlight>
              </a:rPr>
              <a:t> (verifiable, empirically grounded) or a </a:t>
            </a:r>
            <a:r>
              <a:rPr lang="en-US" sz="2800" b="1" dirty="0">
                <a:highlight>
                  <a:srgbClr val="FFFFFF"/>
                </a:highlight>
              </a:rPr>
              <a:t>Non-Fact</a:t>
            </a:r>
            <a:r>
              <a:rPr lang="en-US" sz="2800" dirty="0">
                <a:highlight>
                  <a:srgbClr val="FFFFFF"/>
                </a:highlight>
              </a:rPr>
              <a:t> (opinion, subjective claim, or false statement).</a:t>
            </a:r>
          </a:p>
          <a:p>
            <a:endParaRPr lang="en-US" sz="2800" dirty="0">
              <a:highlight>
                <a:srgbClr val="FFFFFF"/>
              </a:highlight>
            </a:endParaRPr>
          </a:p>
          <a:p>
            <a:r>
              <a:rPr lang="en-US" sz="2800" b="1" dirty="0">
                <a:highlight>
                  <a:srgbClr val="FFFFFF"/>
                </a:highlight>
              </a:rPr>
              <a:t>Why it matters</a:t>
            </a:r>
            <a:endParaRPr lang="en-US" sz="2800" dirty="0">
              <a:highlight>
                <a:srgbClr val="FFFFFF"/>
              </a:highligh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FFFF"/>
                </a:highlight>
              </a:rPr>
              <a:t>Misinformation detection and automated fact-checking pipelines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FFFF"/>
                </a:highlight>
              </a:rPr>
              <a:t>Foundation for downstream NLP tasks like claim verification and knowledge base construction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FFFF"/>
                </a:highlight>
              </a:rPr>
              <a:t>Sentences are short and ambiguous — surface-level lexical features alone are insufficient; semantic understanding is required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327426"/>
            <a:ext cx="1066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Dataset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4D89773-9C91-534D-199B-A74769D4BD64}"/>
              </a:ext>
            </a:extLst>
          </p:cNvPr>
          <p:cNvSpPr/>
          <p:nvPr/>
        </p:nvSpPr>
        <p:spPr>
          <a:xfrm>
            <a:off x="762000" y="2637118"/>
            <a:ext cx="9995647" cy="554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highlight>
                  <a:srgbClr val="FFFFFF"/>
                </a:highlight>
              </a:rPr>
              <a:t>Custom scraped corpus — 1,338 sentences, two classes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FF"/>
                </a:highlight>
              </a:rPr>
              <a:t>Fact = 722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FF"/>
                </a:highlight>
              </a:rPr>
              <a:t>Non-Fact = 616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highlight>
                <a:srgbClr val="FFFFFF"/>
              </a:highlight>
            </a:endParaRPr>
          </a:p>
          <a:p>
            <a:r>
              <a:rPr lang="en-US" sz="2400" dirty="0"/>
              <a:t>Length-stratified binning (6 bins: 0–5, 6–10, 11–15, 16–20, 21–30, 30+ words) to ensure bin-proportional resampling before train/test split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FF"/>
                </a:highlight>
              </a:rPr>
              <a:t>Fact = 571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FF"/>
                </a:highlight>
              </a:rPr>
              <a:t>Non-Fact = 616</a:t>
            </a:r>
          </a:p>
          <a:p>
            <a:endParaRPr lang="en-US" sz="2400" dirty="0">
              <a:highlight>
                <a:srgbClr val="FFFFFF"/>
              </a:highlight>
            </a:endParaRPr>
          </a:p>
          <a:p>
            <a:r>
              <a:rPr lang="en-US" sz="2400" dirty="0"/>
              <a:t>80/20 stratified train-test split, fixed </a:t>
            </a:r>
            <a:r>
              <a:rPr lang="en-US" dirty="0" err="1"/>
              <a:t>random_state</a:t>
            </a:r>
            <a:r>
              <a:rPr lang="en-US" dirty="0"/>
              <a:t>=42</a:t>
            </a:r>
            <a:endParaRPr lang="en-US" sz="2400" dirty="0"/>
          </a:p>
          <a:p>
            <a:endParaRPr lang="en-US" sz="2400" dirty="0">
              <a:highlight>
                <a:srgbClr val="FFFFFF"/>
              </a:highlight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FF0B3F-1AF2-26B8-A933-BF587AD1E8EF}"/>
              </a:ext>
            </a:extLst>
          </p:cNvPr>
          <p:cNvSpPr txBox="1"/>
          <p:nvPr/>
        </p:nvSpPr>
        <p:spPr>
          <a:xfrm>
            <a:off x="663437" y="1342692"/>
            <a:ext cx="6097656" cy="6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Methodology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18901D-8AD1-9BCD-0763-049E4C888B74}"/>
              </a:ext>
            </a:extLst>
          </p:cNvPr>
          <p:cNvSpPr/>
          <p:nvPr/>
        </p:nvSpPr>
        <p:spPr>
          <a:xfrm>
            <a:off x="762000" y="2637118"/>
            <a:ext cx="9995647" cy="554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dirty="0">
                <a:highlight>
                  <a:srgbClr val="FFFFFF"/>
                </a:highlight>
              </a:rPr>
              <a:t>Three-phase experimental design</a:t>
            </a:r>
          </a:p>
          <a:p>
            <a:endParaRPr lang="en-IN" sz="2400" dirty="0">
              <a:highlight>
                <a:srgbClr val="FFFFFF"/>
              </a:highlight>
            </a:endParaRPr>
          </a:p>
          <a:p>
            <a:r>
              <a:rPr lang="en-IN" sz="2400" dirty="0"/>
              <a:t>Phase 1 — Baseline Embeddings</a:t>
            </a:r>
          </a:p>
          <a:p>
            <a:r>
              <a:rPr lang="en-IN" sz="2400" dirty="0"/>
              <a:t>TF-IDF + Word2Vec  →  7 classifiers each</a:t>
            </a:r>
          </a:p>
          <a:p>
            <a:endParaRPr lang="en-IN" sz="2400" dirty="0"/>
          </a:p>
          <a:p>
            <a:r>
              <a:rPr lang="en-IN" sz="2400" dirty="0"/>
              <a:t>Phase 2 — Pretrained Transformer Embeddings</a:t>
            </a:r>
          </a:p>
          <a:p>
            <a:r>
              <a:rPr lang="en-IN" sz="2400" dirty="0"/>
              <a:t>BERT, T5, XLM-</a:t>
            </a:r>
            <a:r>
              <a:rPr lang="en-IN" sz="2400" dirty="0" err="1"/>
              <a:t>RoBERTa</a:t>
            </a:r>
            <a:r>
              <a:rPr lang="en-IN" sz="2400" dirty="0"/>
              <a:t>, SBERT, </a:t>
            </a:r>
            <a:r>
              <a:rPr lang="en-IN" sz="2400" dirty="0" err="1"/>
              <a:t>UniXcoder</a:t>
            </a:r>
            <a:r>
              <a:rPr lang="en-IN" sz="2400" dirty="0"/>
              <a:t>  →  7 classifiers each</a:t>
            </a:r>
          </a:p>
          <a:p>
            <a:r>
              <a:rPr lang="en-IN" sz="2400" dirty="0"/>
              <a:t>Pooling: attention-weighted mean of encoder last hidden states</a:t>
            </a:r>
          </a:p>
          <a:p>
            <a:endParaRPr lang="en-IN" sz="2400" dirty="0"/>
          </a:p>
          <a:p>
            <a:r>
              <a:rPr lang="en-IN" sz="2400" dirty="0"/>
              <a:t>Phase 3 — Fine-tuned Transformer Embeddings</a:t>
            </a:r>
          </a:p>
          <a:p>
            <a:r>
              <a:rPr lang="en-IN" sz="2400" dirty="0"/>
              <a:t>Same 4 transformers fine-tuned on training set  →  7 classifiers each</a:t>
            </a:r>
          </a:p>
          <a:p>
            <a:endParaRPr lang="en-IN" sz="2400" dirty="0"/>
          </a:p>
          <a:p>
            <a:r>
              <a:rPr lang="en-IN" sz="2400" dirty="0"/>
              <a:t>Classifiers tested: KNN, Decision Tree, Logistic Regression,</a:t>
            </a:r>
          </a:p>
          <a:p>
            <a:r>
              <a:rPr lang="en-IN" sz="2400" dirty="0"/>
              <a:t>                    SVM (RBF/linear), </a:t>
            </a:r>
            <a:r>
              <a:rPr lang="en-IN" sz="2400" dirty="0" err="1"/>
              <a:t>XGBoost</a:t>
            </a:r>
            <a:r>
              <a:rPr lang="en-IN" sz="2400" dirty="0"/>
              <a:t>, </a:t>
            </a:r>
            <a:r>
              <a:rPr lang="en-IN" sz="2400" dirty="0" err="1"/>
              <a:t>CatBoost</a:t>
            </a:r>
            <a:r>
              <a:rPr lang="en-IN" sz="2400" dirty="0"/>
              <a:t>, </a:t>
            </a:r>
            <a:r>
              <a:rPr lang="en-IN" sz="2400" dirty="0" err="1"/>
              <a:t>LightGBM</a:t>
            </a:r>
            <a:endParaRPr lang="en-IN" sz="2400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33419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3DAEA-F7C9-3EE6-3251-53738EFFB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2FAECB-25F1-92D8-796F-5B9F262EDEEE}"/>
              </a:ext>
            </a:extLst>
          </p:cNvPr>
          <p:cNvSpPr/>
          <p:nvPr/>
        </p:nvSpPr>
        <p:spPr>
          <a:xfrm>
            <a:off x="762000" y="1374525"/>
            <a:ext cx="1066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Embeddings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FB3836-0B43-675D-8D2F-913A10249E18}"/>
              </a:ext>
            </a:extLst>
          </p:cNvPr>
          <p:cNvSpPr/>
          <p:nvPr/>
        </p:nvSpPr>
        <p:spPr>
          <a:xfrm>
            <a:off x="762000" y="2637118"/>
            <a:ext cx="9995647" cy="554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2800" dirty="0">
              <a:highlight>
                <a:srgbClr val="FFFFFF"/>
              </a:highlight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1E38693-A34D-F299-5EF1-8A816273751E}"/>
              </a:ext>
            </a:extLst>
          </p:cNvPr>
          <p:cNvSpPr/>
          <p:nvPr/>
        </p:nvSpPr>
        <p:spPr>
          <a:xfrm>
            <a:off x="762000" y="2027584"/>
            <a:ext cx="10148047" cy="6308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b="1" dirty="0">
                <a:highlight>
                  <a:srgbClr val="FFFFFF"/>
                </a:highlight>
              </a:rPr>
              <a:t>Baseline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highlight>
                  <a:srgbClr val="FFFFFF"/>
                </a:highlight>
              </a:rPr>
              <a:t>TF-IDF:</a:t>
            </a:r>
            <a:r>
              <a:rPr lang="en-IN" sz="2400" dirty="0">
                <a:highlight>
                  <a:srgbClr val="FFFFFF"/>
                </a:highlight>
              </a:rPr>
              <a:t> Term frequency–inverse document frequency; captures lexical importance, no semantics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highlight>
                  <a:srgbClr val="FFFFFF"/>
                </a:highlight>
              </a:rPr>
              <a:t>Word2Vec:</a:t>
            </a:r>
            <a:r>
              <a:rPr lang="en-IN" sz="2400" dirty="0">
                <a:highlight>
                  <a:srgbClr val="FFFFFF"/>
                </a:highlight>
              </a:rPr>
              <a:t> Dense 300-dim word vectors; captures local co-occurrence semantics, averaged at sentence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highlight>
                <a:srgbClr val="FFFFFF"/>
              </a:highlight>
            </a:endParaRPr>
          </a:p>
          <a:p>
            <a:r>
              <a:rPr lang="en-IN" sz="2400" b="1" dirty="0">
                <a:highlight>
                  <a:srgbClr val="FFFFFF"/>
                </a:highlight>
              </a:rPr>
              <a:t>Pretrained Transformers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highlight>
                  <a:srgbClr val="FFFFFF"/>
                </a:highlight>
              </a:rPr>
              <a:t>BERT</a:t>
            </a:r>
            <a:r>
              <a:rPr lang="en-IN" sz="2400" dirty="0">
                <a:highlight>
                  <a:srgbClr val="FFFFFF"/>
                </a:highlight>
              </a:rPr>
              <a:t> (</a:t>
            </a:r>
            <a:r>
              <a:rPr lang="en-IN" dirty="0" err="1">
                <a:highlight>
                  <a:srgbClr val="FFFFFF"/>
                </a:highlight>
              </a:rPr>
              <a:t>bert</a:t>
            </a:r>
            <a:r>
              <a:rPr lang="en-IN" dirty="0">
                <a:highlight>
                  <a:srgbClr val="FFFFFF"/>
                </a:highlight>
              </a:rPr>
              <a:t>-base-uncased</a:t>
            </a:r>
            <a:r>
              <a:rPr lang="en-IN" sz="2400" dirty="0">
                <a:highlight>
                  <a:srgbClr val="FFFFFF"/>
                </a:highlight>
              </a:rPr>
              <a:t>): Bidirectional encoder, 768-dim, fine-tuned on MLM + NSP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highlight>
                  <a:srgbClr val="FFFFFF"/>
                </a:highlight>
              </a:rPr>
              <a:t>T5</a:t>
            </a:r>
            <a:r>
              <a:rPr lang="en-IN" sz="2400" dirty="0">
                <a:highlight>
                  <a:srgbClr val="FFFFFF"/>
                </a:highlight>
              </a:rPr>
              <a:t> (</a:t>
            </a:r>
            <a:r>
              <a:rPr lang="en-IN" dirty="0">
                <a:highlight>
                  <a:srgbClr val="FFFFFF"/>
                </a:highlight>
              </a:rPr>
              <a:t>google/flan-t5-base</a:t>
            </a:r>
            <a:r>
              <a:rPr lang="en-IN" sz="2400" dirty="0">
                <a:highlight>
                  <a:srgbClr val="FFFFFF"/>
                </a:highlight>
              </a:rPr>
              <a:t>): Encoder-decoder; only encoder used; instruction-tuned, 768-dim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highlight>
                  <a:srgbClr val="FFFFFF"/>
                </a:highlight>
              </a:rPr>
              <a:t>XLM-</a:t>
            </a:r>
            <a:r>
              <a:rPr lang="en-IN" sz="2400" b="1" dirty="0" err="1">
                <a:highlight>
                  <a:srgbClr val="FFFFFF"/>
                </a:highlight>
              </a:rPr>
              <a:t>RoBERTa</a:t>
            </a:r>
            <a:r>
              <a:rPr lang="en-IN" sz="2400" dirty="0">
                <a:highlight>
                  <a:srgbClr val="FFFFFF"/>
                </a:highlight>
              </a:rPr>
              <a:t> (</a:t>
            </a:r>
            <a:r>
              <a:rPr lang="en-IN" dirty="0" err="1">
                <a:highlight>
                  <a:srgbClr val="FFFFFF"/>
                </a:highlight>
              </a:rPr>
              <a:t>xlm</a:t>
            </a:r>
            <a:r>
              <a:rPr lang="en-IN" dirty="0">
                <a:highlight>
                  <a:srgbClr val="FFFFFF"/>
                </a:highlight>
              </a:rPr>
              <a:t>-</a:t>
            </a:r>
            <a:r>
              <a:rPr lang="en-IN" dirty="0" err="1">
                <a:highlight>
                  <a:srgbClr val="FFFFFF"/>
                </a:highlight>
              </a:rPr>
              <a:t>roberta</a:t>
            </a:r>
            <a:r>
              <a:rPr lang="en-IN" dirty="0">
                <a:highlight>
                  <a:srgbClr val="FFFFFF"/>
                </a:highlight>
              </a:rPr>
              <a:t>-base</a:t>
            </a:r>
            <a:r>
              <a:rPr lang="en-IN" sz="2400" dirty="0">
                <a:highlight>
                  <a:srgbClr val="FFFFFF"/>
                </a:highlight>
              </a:rPr>
              <a:t>): Multilingual BERT variant, robust to domain shift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highlight>
                  <a:srgbClr val="FFFFFF"/>
                </a:highlight>
              </a:rPr>
              <a:t>SBERT</a:t>
            </a:r>
            <a:r>
              <a:rPr lang="en-IN" sz="2400" dirty="0">
                <a:highlight>
                  <a:srgbClr val="FFFFFF"/>
                </a:highlight>
              </a:rPr>
              <a:t> (</a:t>
            </a:r>
            <a:r>
              <a:rPr lang="en-IN" dirty="0">
                <a:highlight>
                  <a:srgbClr val="FFFFFF"/>
                </a:highlight>
              </a:rPr>
              <a:t>all-</a:t>
            </a:r>
            <a:r>
              <a:rPr lang="en-IN" dirty="0" err="1">
                <a:highlight>
                  <a:srgbClr val="FFFFFF"/>
                </a:highlight>
              </a:rPr>
              <a:t>MiniLM</a:t>
            </a:r>
            <a:r>
              <a:rPr lang="en-IN" sz="2400" dirty="0">
                <a:highlight>
                  <a:srgbClr val="FFFFFF"/>
                </a:highlight>
              </a:rPr>
              <a:t>): Sentence-BERT; optimised for sentence-level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err="1">
                <a:highlight>
                  <a:srgbClr val="FFFFFF"/>
                </a:highlight>
              </a:rPr>
              <a:t>UniXcoder</a:t>
            </a:r>
            <a:r>
              <a:rPr lang="en-IN" sz="2400" dirty="0">
                <a:highlight>
                  <a:srgbClr val="FFFFFF"/>
                </a:highlight>
              </a:rPr>
              <a:t> (</a:t>
            </a:r>
            <a:r>
              <a:rPr lang="en-IN" dirty="0" err="1">
                <a:highlight>
                  <a:srgbClr val="FFFFFF"/>
                </a:highlight>
              </a:rPr>
              <a:t>microsoft</a:t>
            </a:r>
            <a:r>
              <a:rPr lang="en-IN" dirty="0">
                <a:highlight>
                  <a:srgbClr val="FFFFFF"/>
                </a:highlight>
              </a:rPr>
              <a:t>/</a:t>
            </a:r>
            <a:r>
              <a:rPr lang="en-IN" dirty="0" err="1">
                <a:highlight>
                  <a:srgbClr val="FFFFFF"/>
                </a:highlight>
              </a:rPr>
              <a:t>unixcoder</a:t>
            </a:r>
            <a:r>
              <a:rPr lang="en-IN" dirty="0">
                <a:highlight>
                  <a:srgbClr val="FFFFFF"/>
                </a:highlight>
              </a:rPr>
              <a:t>-base</a:t>
            </a:r>
            <a:r>
              <a:rPr lang="en-IN" sz="2400" dirty="0">
                <a:highlight>
                  <a:srgbClr val="FFFFFF"/>
                </a:highlight>
              </a:rPr>
              <a:t>): Unified cross-modal encoder; strong on structured/technical 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highlight>
                <a:srgbClr val="FFFFFF"/>
              </a:highlight>
            </a:endParaRPr>
          </a:p>
          <a:p>
            <a:r>
              <a:rPr lang="en-US" sz="2400" b="1" dirty="0"/>
              <a:t>Fine-tuned variants (BERT-FT, T5-FT, XLM-FT, </a:t>
            </a:r>
            <a:r>
              <a:rPr lang="en-US" sz="2400" b="1" dirty="0" err="1"/>
              <a:t>UniXcoder</a:t>
            </a:r>
            <a:r>
              <a:rPr lang="en-US" sz="2400" b="1" dirty="0"/>
              <a:t>-FT):</a:t>
            </a:r>
            <a:r>
              <a:rPr lang="en-US" sz="2400" dirty="0"/>
              <a:t> Encoders further trained on the classification task before feature extraction</a:t>
            </a:r>
            <a:endParaRPr lang="en-IN" sz="2400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4288227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75925E-DBAF-C5EB-4FC2-2EA11719717F}"/>
              </a:ext>
            </a:extLst>
          </p:cNvPr>
          <p:cNvSpPr txBox="1"/>
          <p:nvPr/>
        </p:nvSpPr>
        <p:spPr>
          <a:xfrm>
            <a:off x="752889" y="1128302"/>
            <a:ext cx="6097656" cy="6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Results</a:t>
            </a: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 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4D155C78-CBC2-8534-95CA-338DA2B5F82F}"/>
              </a:ext>
            </a:extLst>
          </p:cNvPr>
          <p:cNvSpPr/>
          <p:nvPr/>
        </p:nvSpPr>
        <p:spPr>
          <a:xfrm>
            <a:off x="762000" y="2027584"/>
            <a:ext cx="10148047" cy="6308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dirty="0">
                <a:highlight>
                  <a:srgbClr val="FFFFFF"/>
                </a:highlight>
              </a:rPr>
              <a:t>End-to-End Fine-Tuned Transformer Classifiers</a:t>
            </a: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F1DAE9-A084-86C1-5667-32003FAFB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552893"/>
              </p:ext>
            </p:extLst>
          </p:nvPr>
        </p:nvGraphicFramePr>
        <p:xfrm>
          <a:off x="752888" y="2674399"/>
          <a:ext cx="10448513" cy="33984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51632">
                  <a:extLst>
                    <a:ext uri="{9D8B030D-6E8A-4147-A177-3AD203B41FA5}">
                      <a16:colId xmlns:a16="http://schemas.microsoft.com/office/drawing/2014/main" val="3306752971"/>
                    </a:ext>
                  </a:extLst>
                </a:gridCol>
                <a:gridCol w="1230413">
                  <a:extLst>
                    <a:ext uri="{9D8B030D-6E8A-4147-A177-3AD203B41FA5}">
                      <a16:colId xmlns:a16="http://schemas.microsoft.com/office/drawing/2014/main" val="1931257997"/>
                    </a:ext>
                  </a:extLst>
                </a:gridCol>
                <a:gridCol w="1365458">
                  <a:extLst>
                    <a:ext uri="{9D8B030D-6E8A-4147-A177-3AD203B41FA5}">
                      <a16:colId xmlns:a16="http://schemas.microsoft.com/office/drawing/2014/main" val="1442967075"/>
                    </a:ext>
                  </a:extLst>
                </a:gridCol>
                <a:gridCol w="1470495">
                  <a:extLst>
                    <a:ext uri="{9D8B030D-6E8A-4147-A177-3AD203B41FA5}">
                      <a16:colId xmlns:a16="http://schemas.microsoft.com/office/drawing/2014/main" val="2986127064"/>
                    </a:ext>
                  </a:extLst>
                </a:gridCol>
                <a:gridCol w="1530515">
                  <a:extLst>
                    <a:ext uri="{9D8B030D-6E8A-4147-A177-3AD203B41FA5}">
                      <a16:colId xmlns:a16="http://schemas.microsoft.com/office/drawing/2014/main" val="742313892"/>
                    </a:ext>
                  </a:extLst>
                </a:gridCol>
              </a:tblGrid>
              <a:tr h="4100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Train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Test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122311"/>
                  </a:ext>
                </a:extLst>
              </a:tr>
              <a:tr h="4279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Model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Accuracy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F1 Score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Accuracy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F1 Score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661344675"/>
                  </a:ext>
                </a:extLst>
              </a:tr>
              <a:tr h="640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BERT (bert-base-uncased)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0.98840885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0.98805646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0.915966387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0.918032787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56069293"/>
                  </a:ext>
                </a:extLst>
              </a:tr>
              <a:tr h="640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T5 (google/flan-t5-base)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0.97260274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0.97228145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0.932773109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0.933884298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9358678"/>
                  </a:ext>
                </a:extLst>
              </a:tr>
              <a:tr h="640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XLM-RoBERTa (xlm-roberta-base)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0.97787144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0.977346278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0.924369748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0.923728814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7763042"/>
                  </a:ext>
                </a:extLst>
              </a:tr>
              <a:tr h="640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UniXcoder (microsoft/unixcoder-base)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0.99157007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0.991189427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0.890756303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0.87254902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71341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66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94393-E7D8-C11B-51ED-D574C193A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00E4D0-D561-F150-E189-4F97822513C5}"/>
              </a:ext>
            </a:extLst>
          </p:cNvPr>
          <p:cNvSpPr txBox="1"/>
          <p:nvPr/>
        </p:nvSpPr>
        <p:spPr>
          <a:xfrm>
            <a:off x="752889" y="1128302"/>
            <a:ext cx="6097656" cy="6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Results</a:t>
            </a: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 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B2964D39-7F4F-323C-EE85-D4AC5F00FFAA}"/>
              </a:ext>
            </a:extLst>
          </p:cNvPr>
          <p:cNvSpPr/>
          <p:nvPr/>
        </p:nvSpPr>
        <p:spPr>
          <a:xfrm>
            <a:off x="762000" y="2027584"/>
            <a:ext cx="10148047" cy="6308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dirty="0">
                <a:highlight>
                  <a:srgbClr val="FFFFFF"/>
                </a:highlight>
              </a:rPr>
              <a:t>Pretrained Embeddings </a:t>
            </a: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D73E02B-9345-33AD-D4B5-D051D80F6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091318"/>
              </p:ext>
            </p:extLst>
          </p:nvPr>
        </p:nvGraphicFramePr>
        <p:xfrm>
          <a:off x="762000" y="2849017"/>
          <a:ext cx="3657602" cy="5349240"/>
        </p:xfrm>
        <a:graphic>
          <a:graphicData uri="http://schemas.openxmlformats.org/drawingml/2006/table">
            <a:tbl>
              <a:tblPr/>
              <a:tblGrid>
                <a:gridCol w="703385">
                  <a:extLst>
                    <a:ext uri="{9D8B030D-6E8A-4147-A177-3AD203B41FA5}">
                      <a16:colId xmlns:a16="http://schemas.microsoft.com/office/drawing/2014/main" val="1816134698"/>
                    </a:ext>
                  </a:extLst>
                </a:gridCol>
                <a:gridCol w="703385">
                  <a:extLst>
                    <a:ext uri="{9D8B030D-6E8A-4147-A177-3AD203B41FA5}">
                      <a16:colId xmlns:a16="http://schemas.microsoft.com/office/drawing/2014/main" val="2139776231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3962899190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3774288673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94441492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55612167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3104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Accuracy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 Score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Accuracy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 Score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3198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Embedding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3786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TF-IDF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0.7703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0.6891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6722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Decision Tree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TF-IDF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0.6807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0.6374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0.6555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7504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TF-IDF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0.7607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0.7185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410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TF-IDF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0.7724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0.7698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0.7101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0.7051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5099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XGBoost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TF-IDF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0.6449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0.6387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363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TF-IDF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0.7987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0.7185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0926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LightGBM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TF-IDF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0.6896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0.6975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0.6811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3062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Word2Vec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0.6597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0.6579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1812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Decision Tree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Word2Vec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0.6046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6024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Word2Vec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0.7597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0.7597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0.7103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7134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Word2Vec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0.7983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0.7976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6899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XGBoost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Word2Vec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0.6932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2326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Word2Vec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0.9779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0.9778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0.7017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2972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LightGBM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Word2Vec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0.6926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4708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SBERT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0.8992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0.8992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1165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Decision Tree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SBERT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0.7185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0.7185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8807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SBERT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0.9412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0.9411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2731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SBERT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0.9496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0.9495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9596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XGBoost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SBERT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0.9968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0.9968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0.8824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0.8819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0943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SBERT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0.9159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3600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LightGBM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SBERT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0.9926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0.9118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0.9118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18435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3D6224-9AFE-11B1-1485-243FE7212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499777"/>
              </p:ext>
            </p:extLst>
          </p:nvPr>
        </p:nvGraphicFramePr>
        <p:xfrm>
          <a:off x="6096000" y="1855770"/>
          <a:ext cx="4137654" cy="6381082"/>
        </p:xfrm>
        <a:graphic>
          <a:graphicData uri="http://schemas.openxmlformats.org/drawingml/2006/table">
            <a:tbl>
              <a:tblPr/>
              <a:tblGrid>
                <a:gridCol w="689609">
                  <a:extLst>
                    <a:ext uri="{9D8B030D-6E8A-4147-A177-3AD203B41FA5}">
                      <a16:colId xmlns:a16="http://schemas.microsoft.com/office/drawing/2014/main" val="3245022827"/>
                    </a:ext>
                  </a:extLst>
                </a:gridCol>
                <a:gridCol w="689609">
                  <a:extLst>
                    <a:ext uri="{9D8B030D-6E8A-4147-A177-3AD203B41FA5}">
                      <a16:colId xmlns:a16="http://schemas.microsoft.com/office/drawing/2014/main" val="229836823"/>
                    </a:ext>
                  </a:extLst>
                </a:gridCol>
                <a:gridCol w="689609">
                  <a:extLst>
                    <a:ext uri="{9D8B030D-6E8A-4147-A177-3AD203B41FA5}">
                      <a16:colId xmlns:a16="http://schemas.microsoft.com/office/drawing/2014/main" val="63497784"/>
                    </a:ext>
                  </a:extLst>
                </a:gridCol>
                <a:gridCol w="689609">
                  <a:extLst>
                    <a:ext uri="{9D8B030D-6E8A-4147-A177-3AD203B41FA5}">
                      <a16:colId xmlns:a16="http://schemas.microsoft.com/office/drawing/2014/main" val="385376762"/>
                    </a:ext>
                  </a:extLst>
                </a:gridCol>
                <a:gridCol w="689609">
                  <a:extLst>
                    <a:ext uri="{9D8B030D-6E8A-4147-A177-3AD203B41FA5}">
                      <a16:colId xmlns:a16="http://schemas.microsoft.com/office/drawing/2014/main" val="3809006941"/>
                    </a:ext>
                  </a:extLst>
                </a:gridCol>
                <a:gridCol w="689609">
                  <a:extLst>
                    <a:ext uri="{9D8B030D-6E8A-4147-A177-3AD203B41FA5}">
                      <a16:colId xmlns:a16="http://schemas.microsoft.com/office/drawing/2014/main" val="1123657991"/>
                    </a:ext>
                  </a:extLst>
                </a:gridCol>
              </a:tblGrid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0.9118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0.9116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249278"/>
                  </a:ext>
                </a:extLst>
              </a:tr>
              <a:tr h="252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Decision Tree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0.9389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0.9388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0.7857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0.7854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320374"/>
                  </a:ext>
                </a:extLst>
              </a:tr>
              <a:tr h="37633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0.937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0.9369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102603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0.9947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0.9947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0.9454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0.9454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390656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XGBoost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0.9286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0.9286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024392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CatBoost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0.9118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0.9116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934356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LightGBM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0.9412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0.9411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674692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0.916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0.916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071762"/>
                  </a:ext>
                </a:extLst>
              </a:tr>
              <a:tr h="252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Decision Tree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0.9389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0.9388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0.8487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0.8487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339522"/>
                  </a:ext>
                </a:extLst>
              </a:tr>
              <a:tr h="37633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0.9895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0.9894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0.9454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0.9453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949182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913437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XGBoost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0.9328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0.9328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845765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CatBoost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0.9412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0.9411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011340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LightGBM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0.9454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0.9453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100949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0.9199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0.9193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0.8487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0.8481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690616"/>
                  </a:ext>
                </a:extLst>
              </a:tr>
              <a:tr h="252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Decision Tree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0.8588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0.8579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0.7353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0.7318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789196"/>
                  </a:ext>
                </a:extLst>
              </a:tr>
              <a:tr h="37633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0.9874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0.9873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0.9202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907795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0.9842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0.9842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0.916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0.9157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966694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XGBoost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0.9076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0.9076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565716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CatBoost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0.8908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0.8906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295465"/>
                  </a:ext>
                </a:extLst>
              </a:tr>
              <a:tr h="1348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LightGBM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0.916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0.9158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944367"/>
                  </a:ext>
                </a:extLst>
              </a:tr>
              <a:tr h="252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0.9231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0.9224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0.8193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0.8166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416119"/>
                  </a:ext>
                </a:extLst>
              </a:tr>
              <a:tr h="252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Decision Tree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0.8809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0.8801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0.7017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0.7008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978327"/>
                  </a:ext>
                </a:extLst>
              </a:tr>
              <a:tr h="37633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0.9779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0.9779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0.8824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0.8821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613818"/>
                  </a:ext>
                </a:extLst>
              </a:tr>
              <a:tr h="252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0.9989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0.9989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0.895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0.8945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303382"/>
                  </a:ext>
                </a:extLst>
              </a:tr>
              <a:tr h="252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XGBoost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0.8697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0.8695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062668"/>
                  </a:ext>
                </a:extLst>
              </a:tr>
              <a:tr h="252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CatBoost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0.8571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0.8565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942122"/>
                  </a:ext>
                </a:extLst>
              </a:tr>
              <a:tr h="252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LightGBM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</a:t>
                      </a:r>
                    </a:p>
                  </a:txBody>
                  <a:tcPr marL="5617" marR="5617" marT="561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0.8782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0.8778</a:t>
                      </a:r>
                    </a:p>
                  </a:txBody>
                  <a:tcPr marL="5617" marR="5617" marT="561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406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387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5BDF-4881-FB60-3F09-2192CB690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8214B2-282E-E4C0-76F7-DF5CD1F7919B}"/>
              </a:ext>
            </a:extLst>
          </p:cNvPr>
          <p:cNvSpPr txBox="1"/>
          <p:nvPr/>
        </p:nvSpPr>
        <p:spPr>
          <a:xfrm>
            <a:off x="752889" y="1128302"/>
            <a:ext cx="6097656" cy="6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Results</a:t>
            </a: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 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B508C3D9-03D5-8537-7950-42F8C9D856B4}"/>
              </a:ext>
            </a:extLst>
          </p:cNvPr>
          <p:cNvSpPr/>
          <p:nvPr/>
        </p:nvSpPr>
        <p:spPr>
          <a:xfrm>
            <a:off x="762000" y="2027584"/>
            <a:ext cx="10148047" cy="6308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dirty="0">
                <a:highlight>
                  <a:srgbClr val="FFFFFF"/>
                </a:highlight>
              </a:rPr>
              <a:t>Pretrained Embeddings </a:t>
            </a: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1AB5B17-C7E0-8819-160C-B68FE0C71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611" y="2752724"/>
            <a:ext cx="8727250" cy="520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03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FABDF-914D-003E-770E-AFEEDD1D6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02EC77-2951-85F6-7682-FA1A5B1EE92E}"/>
              </a:ext>
            </a:extLst>
          </p:cNvPr>
          <p:cNvSpPr txBox="1"/>
          <p:nvPr/>
        </p:nvSpPr>
        <p:spPr>
          <a:xfrm>
            <a:off x="752889" y="1128302"/>
            <a:ext cx="6097656" cy="6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Results</a:t>
            </a: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 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4AFE2F1-D2E7-B5B2-09C4-88AD16808860}"/>
              </a:ext>
            </a:extLst>
          </p:cNvPr>
          <p:cNvSpPr/>
          <p:nvPr/>
        </p:nvSpPr>
        <p:spPr>
          <a:xfrm>
            <a:off x="762000" y="2027584"/>
            <a:ext cx="10148047" cy="6308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dirty="0">
                <a:highlight>
                  <a:srgbClr val="FFFFFF"/>
                </a:highlight>
              </a:rPr>
              <a:t>Fine-tuned Embeddings </a:t>
            </a: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515710-CDCA-3398-0454-ACDB304E3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060091"/>
              </p:ext>
            </p:extLst>
          </p:nvPr>
        </p:nvGraphicFramePr>
        <p:xfrm>
          <a:off x="937590" y="3307486"/>
          <a:ext cx="4389782" cy="4823460"/>
        </p:xfrm>
        <a:graphic>
          <a:graphicData uri="http://schemas.openxmlformats.org/drawingml/2006/table">
            <a:tbl>
              <a:tblPr/>
              <a:tblGrid>
                <a:gridCol w="844189">
                  <a:extLst>
                    <a:ext uri="{9D8B030D-6E8A-4147-A177-3AD203B41FA5}">
                      <a16:colId xmlns:a16="http://schemas.microsoft.com/office/drawing/2014/main" val="3574408722"/>
                    </a:ext>
                  </a:extLst>
                </a:gridCol>
                <a:gridCol w="844189">
                  <a:extLst>
                    <a:ext uri="{9D8B030D-6E8A-4147-A177-3AD203B41FA5}">
                      <a16:colId xmlns:a16="http://schemas.microsoft.com/office/drawing/2014/main" val="3729966773"/>
                    </a:ext>
                  </a:extLst>
                </a:gridCol>
                <a:gridCol w="675351">
                  <a:extLst>
                    <a:ext uri="{9D8B030D-6E8A-4147-A177-3AD203B41FA5}">
                      <a16:colId xmlns:a16="http://schemas.microsoft.com/office/drawing/2014/main" val="1170590949"/>
                    </a:ext>
                  </a:extLst>
                </a:gridCol>
                <a:gridCol w="675351">
                  <a:extLst>
                    <a:ext uri="{9D8B030D-6E8A-4147-A177-3AD203B41FA5}">
                      <a16:colId xmlns:a16="http://schemas.microsoft.com/office/drawing/2014/main" val="351441546"/>
                    </a:ext>
                  </a:extLst>
                </a:gridCol>
                <a:gridCol w="675351">
                  <a:extLst>
                    <a:ext uri="{9D8B030D-6E8A-4147-A177-3AD203B41FA5}">
                      <a16:colId xmlns:a16="http://schemas.microsoft.com/office/drawing/2014/main" val="1079168184"/>
                    </a:ext>
                  </a:extLst>
                </a:gridCol>
                <a:gridCol w="675351">
                  <a:extLst>
                    <a:ext uri="{9D8B030D-6E8A-4147-A177-3AD203B41FA5}">
                      <a16:colId xmlns:a16="http://schemas.microsoft.com/office/drawing/2014/main" val="3324580683"/>
                    </a:ext>
                  </a:extLst>
                </a:gridCol>
              </a:tblGrid>
              <a:tr h="198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860644"/>
                  </a:ext>
                </a:extLst>
              </a:tr>
              <a:tr h="198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Accuracy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 Score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Accuracy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 Score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927294"/>
                  </a:ext>
                </a:extLst>
              </a:tr>
              <a:tr h="19889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Embedding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387"/>
                  </a:ext>
                </a:extLst>
              </a:tr>
              <a:tr h="19889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0.9368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0.9369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488201"/>
                  </a:ext>
                </a:extLst>
              </a:tr>
              <a:tr h="3729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Decision Tree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0.8529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0.8522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927763"/>
                  </a:ext>
                </a:extLst>
              </a:tr>
              <a:tr h="3729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0.9328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0.9328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945598"/>
                  </a:ext>
                </a:extLst>
              </a:tr>
              <a:tr h="19889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0.9496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0.9495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963379"/>
                  </a:ext>
                </a:extLst>
              </a:tr>
              <a:tr h="19889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XGBoost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0.8908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0.8907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02440"/>
                  </a:ext>
                </a:extLst>
              </a:tr>
              <a:tr h="19889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906970"/>
                  </a:ext>
                </a:extLst>
              </a:tr>
              <a:tr h="19889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LightGBM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BERT-FT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229523"/>
                  </a:ext>
                </a:extLst>
              </a:tr>
              <a:tr h="19889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0.8992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0.8992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262900"/>
                  </a:ext>
                </a:extLst>
              </a:tr>
              <a:tr h="3729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Decision Tree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0.8487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0.8487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3421"/>
                  </a:ext>
                </a:extLst>
              </a:tr>
              <a:tr h="3729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374841"/>
                  </a:ext>
                </a:extLst>
              </a:tr>
              <a:tr h="19889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0.9538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0.9537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560428"/>
                  </a:ext>
                </a:extLst>
              </a:tr>
              <a:tr h="19889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XGBoost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0.9286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0.9286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773106"/>
                  </a:ext>
                </a:extLst>
              </a:tr>
              <a:tr h="19889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803779"/>
                  </a:ext>
                </a:extLst>
              </a:tr>
              <a:tr h="19889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LightGBM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13816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E72C8B-BD9C-8613-E348-C16CBA484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811574"/>
              </p:ext>
            </p:extLst>
          </p:nvPr>
        </p:nvGraphicFramePr>
        <p:xfrm>
          <a:off x="6096000" y="2918426"/>
          <a:ext cx="4558746" cy="5440680"/>
        </p:xfrm>
        <a:graphic>
          <a:graphicData uri="http://schemas.openxmlformats.org/drawingml/2006/table">
            <a:tbl>
              <a:tblPr/>
              <a:tblGrid>
                <a:gridCol w="759791">
                  <a:extLst>
                    <a:ext uri="{9D8B030D-6E8A-4147-A177-3AD203B41FA5}">
                      <a16:colId xmlns:a16="http://schemas.microsoft.com/office/drawing/2014/main" val="2007661256"/>
                    </a:ext>
                  </a:extLst>
                </a:gridCol>
                <a:gridCol w="759791">
                  <a:extLst>
                    <a:ext uri="{9D8B030D-6E8A-4147-A177-3AD203B41FA5}">
                      <a16:colId xmlns:a16="http://schemas.microsoft.com/office/drawing/2014/main" val="3412881998"/>
                    </a:ext>
                  </a:extLst>
                </a:gridCol>
                <a:gridCol w="759791">
                  <a:extLst>
                    <a:ext uri="{9D8B030D-6E8A-4147-A177-3AD203B41FA5}">
                      <a16:colId xmlns:a16="http://schemas.microsoft.com/office/drawing/2014/main" val="4034952282"/>
                    </a:ext>
                  </a:extLst>
                </a:gridCol>
                <a:gridCol w="759791">
                  <a:extLst>
                    <a:ext uri="{9D8B030D-6E8A-4147-A177-3AD203B41FA5}">
                      <a16:colId xmlns:a16="http://schemas.microsoft.com/office/drawing/2014/main" val="2788255985"/>
                    </a:ext>
                  </a:extLst>
                </a:gridCol>
                <a:gridCol w="759791">
                  <a:extLst>
                    <a:ext uri="{9D8B030D-6E8A-4147-A177-3AD203B41FA5}">
                      <a16:colId xmlns:a16="http://schemas.microsoft.com/office/drawing/2014/main" val="1372293847"/>
                    </a:ext>
                  </a:extLst>
                </a:gridCol>
                <a:gridCol w="759791">
                  <a:extLst>
                    <a:ext uri="{9D8B030D-6E8A-4147-A177-3AD203B41FA5}">
                      <a16:colId xmlns:a16="http://schemas.microsoft.com/office/drawing/2014/main" val="242630136"/>
                    </a:ext>
                  </a:extLst>
                </a:gridCol>
              </a:tblGrid>
              <a:tr h="2198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0.8739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0.8739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430493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Decision Tree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0.8529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0.8528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826854"/>
                  </a:ext>
                </a:extLst>
              </a:tr>
              <a:tr h="6137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072796"/>
                  </a:ext>
                </a:extLst>
              </a:tr>
              <a:tr h="2198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083231"/>
                  </a:ext>
                </a:extLst>
              </a:tr>
              <a:tr h="2198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XGBoost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0.8949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052085"/>
                  </a:ext>
                </a:extLst>
              </a:tr>
              <a:tr h="2198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168927"/>
                  </a:ext>
                </a:extLst>
              </a:tr>
              <a:tr h="2198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LightGBM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XLM-FT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0.8992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22499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0.8992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78628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Decision Tree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0.9663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0.9662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0.8094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647950"/>
                  </a:ext>
                </a:extLst>
              </a:tr>
              <a:tr h="6137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0.9747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0.9747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0.9034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0.9031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788547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0.8824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399749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XGBoost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0.8824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66106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CatBoost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695348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LightGBM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UniXcoder-FT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0.9958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0.9958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0.8655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0.8649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926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406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9D1D-61E9-19E3-9F4A-4B94C6C2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EBEC33-1C97-1FAC-DEA6-3D1044633462}"/>
              </a:ext>
            </a:extLst>
          </p:cNvPr>
          <p:cNvSpPr txBox="1"/>
          <p:nvPr/>
        </p:nvSpPr>
        <p:spPr>
          <a:xfrm>
            <a:off x="752889" y="1128302"/>
            <a:ext cx="6097656" cy="6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Results</a:t>
            </a: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 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F76B6B2-FA0F-289C-0567-2F42B37037C0}"/>
              </a:ext>
            </a:extLst>
          </p:cNvPr>
          <p:cNvSpPr/>
          <p:nvPr/>
        </p:nvSpPr>
        <p:spPr>
          <a:xfrm>
            <a:off x="762000" y="2027584"/>
            <a:ext cx="10148047" cy="6308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dirty="0">
                <a:highlight>
                  <a:srgbClr val="FFFFFF"/>
                </a:highlight>
              </a:rPr>
              <a:t>Fine-tuned Embeddings </a:t>
            </a: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1338E0E-B559-4282-627A-D83FB6A5B0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04746" y="2739630"/>
            <a:ext cx="8554264" cy="527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92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D1E2F-C2F7-BA33-4E56-40DBC90D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4E2153-8418-7050-239B-550982E7A8C8}"/>
              </a:ext>
            </a:extLst>
          </p:cNvPr>
          <p:cNvSpPr txBox="1"/>
          <p:nvPr/>
        </p:nvSpPr>
        <p:spPr>
          <a:xfrm>
            <a:off x="852280" y="1040124"/>
            <a:ext cx="6820728" cy="6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Final Model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D3692D-6163-4738-E803-3E2F7562D2B2}"/>
              </a:ext>
            </a:extLst>
          </p:cNvPr>
          <p:cNvSpPr/>
          <p:nvPr/>
        </p:nvSpPr>
        <p:spPr>
          <a:xfrm>
            <a:off x="762000" y="2027584"/>
            <a:ext cx="10148047" cy="6308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dirty="0">
                <a:highlight>
                  <a:srgbClr val="FFFFFF"/>
                </a:highlight>
              </a:rPr>
              <a:t>Chosen Model: SVM + T5 Pretrained</a:t>
            </a: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r>
              <a:rPr lang="en-IN" sz="2400" dirty="0"/>
              <a:t>T5's instruction-tuning (</a:t>
            </a:r>
            <a:r>
              <a:rPr lang="en-IN" dirty="0"/>
              <a:t>flan-t5-base</a:t>
            </a:r>
            <a:r>
              <a:rPr lang="en-IN" sz="2400" dirty="0"/>
              <a:t>) encodes factual vs. non-factual distinctions in its latent space better than other transformers tested </a:t>
            </a:r>
          </a:p>
          <a:p>
            <a:endParaRPr lang="en-IN" sz="2400" dirty="0"/>
          </a:p>
          <a:p>
            <a:r>
              <a:rPr lang="en-IN" sz="2400" dirty="0"/>
              <a:t>Frozen encoder preserves generalisation — no catastrophic forgetting on small data</a:t>
            </a:r>
            <a:endParaRPr lang="en-IN" sz="2400" dirty="0">
              <a:highlight>
                <a:srgbClr val="FFFFFF"/>
              </a:highlight>
            </a:endParaRPr>
          </a:p>
          <a:p>
            <a:endParaRPr lang="en-IN" sz="2400" dirty="0">
              <a:highlight>
                <a:srgbClr val="FFFFFF"/>
              </a:highlight>
            </a:endParaRPr>
          </a:p>
          <a:p>
            <a:r>
              <a:rPr lang="en-IN" sz="2400" dirty="0">
                <a:highlight>
                  <a:srgbClr val="FFFFFF"/>
                </a:highlight>
              </a:rPr>
              <a:t>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E1A832-D51A-2259-5096-50C40F218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208290"/>
              </p:ext>
            </p:extLst>
          </p:nvPr>
        </p:nvGraphicFramePr>
        <p:xfrm>
          <a:off x="689113" y="277447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906601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734681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963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95.80%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077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Macro 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95.80%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86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Embedding dim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093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RandomizedSearchCV</a:t>
                      </a:r>
                      <a:r>
                        <a:rPr lang="en-IN" dirty="0"/>
                        <a:t>, 3-fold CV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386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295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9594B-AC56-EA07-C648-9BBB05F76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823C58-DC4A-A196-3D15-8F2E5AFE5673}"/>
              </a:ext>
            </a:extLst>
          </p:cNvPr>
          <p:cNvSpPr txBox="1"/>
          <p:nvPr/>
        </p:nvSpPr>
        <p:spPr>
          <a:xfrm>
            <a:off x="752889" y="656891"/>
            <a:ext cx="7536346" cy="6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t-SNE Visualization of Embeddings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76D9630-7BBE-D55A-E117-4DC6281C5793}"/>
              </a:ext>
            </a:extLst>
          </p:cNvPr>
          <p:cNvSpPr/>
          <p:nvPr/>
        </p:nvSpPr>
        <p:spPr>
          <a:xfrm>
            <a:off x="762000" y="1590262"/>
            <a:ext cx="10148047" cy="6308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highlight>
                  <a:srgbClr val="FFFFFF"/>
                </a:highlight>
              </a:rPr>
              <a:t>All 11 embedding variants (7 pretrained + 4 fine-tuned) were saved as .</a:t>
            </a:r>
            <a:r>
              <a:rPr lang="en-US" sz="2400" dirty="0" err="1">
                <a:highlight>
                  <a:srgbClr val="FFFFFF"/>
                </a:highlight>
              </a:rPr>
              <a:t>npy</a:t>
            </a:r>
            <a:r>
              <a:rPr lang="en-US" sz="2400" dirty="0">
                <a:highlight>
                  <a:srgbClr val="FFFFFF"/>
                </a:highlight>
              </a:rPr>
              <a:t> files and </a:t>
            </a:r>
            <a:r>
              <a:rPr lang="en-US" sz="2400" dirty="0" err="1">
                <a:highlight>
                  <a:srgbClr val="FFFFFF"/>
                </a:highlight>
              </a:rPr>
              <a:t>visualised</a:t>
            </a:r>
            <a:r>
              <a:rPr lang="en-US" sz="2400" dirty="0">
                <a:highlight>
                  <a:srgbClr val="FFFFFF"/>
                </a:highlight>
              </a:rPr>
              <a:t> using </a:t>
            </a:r>
            <a:r>
              <a:rPr lang="en-US" sz="2400" b="1" dirty="0">
                <a:highlight>
                  <a:srgbClr val="FFFFFF"/>
                </a:highlight>
              </a:rPr>
              <a:t>t-SNE</a:t>
            </a:r>
            <a:r>
              <a:rPr lang="en-US" sz="2400" dirty="0">
                <a:highlight>
                  <a:srgbClr val="FFFFFF"/>
                </a:highlight>
              </a:rPr>
              <a:t> (t-distributed Stochastic </a:t>
            </a:r>
            <a:r>
              <a:rPr lang="en-US" sz="2400" dirty="0" err="1">
                <a:highlight>
                  <a:srgbClr val="FFFFFF"/>
                </a:highlight>
              </a:rPr>
              <a:t>Neighbour</a:t>
            </a:r>
            <a:r>
              <a:rPr lang="en-US" sz="2400" dirty="0">
                <a:highlight>
                  <a:srgbClr val="FFFFFF"/>
                </a:highlight>
              </a:rPr>
              <a:t> Embedding) reduced to 2D — one plot per embedding in a grid layout (</a:t>
            </a:r>
            <a:r>
              <a:rPr lang="en-US" dirty="0">
                <a:highlight>
                  <a:srgbClr val="FFFFFF"/>
                </a:highlight>
              </a:rPr>
              <a:t>perplexity = min(30, </a:t>
            </a:r>
            <a:r>
              <a:rPr lang="en-US" dirty="0" err="1">
                <a:highlight>
                  <a:srgbClr val="FFFFFF"/>
                </a:highlight>
              </a:rPr>
              <a:t>n_samples</a:t>
            </a:r>
            <a:r>
              <a:rPr lang="en-US" dirty="0">
                <a:highlight>
                  <a:srgbClr val="FFFFFF"/>
                </a:highlight>
              </a:rPr>
              <a:t> − 1)</a:t>
            </a:r>
            <a:r>
              <a:rPr lang="en-US" sz="2400" dirty="0">
                <a:highlight>
                  <a:srgbClr val="FFFFFF"/>
                </a:highlight>
              </a:rPr>
              <a:t>, </a:t>
            </a:r>
            <a:r>
              <a:rPr lang="en-US" dirty="0" err="1">
                <a:highlight>
                  <a:srgbClr val="FFFFFF"/>
                </a:highlight>
              </a:rPr>
              <a:t>random_state</a:t>
            </a:r>
            <a:r>
              <a:rPr lang="en-US" dirty="0">
                <a:highlight>
                  <a:srgbClr val="FFFFFF"/>
                </a:highlight>
              </a:rPr>
              <a:t>=42</a:t>
            </a:r>
            <a:r>
              <a:rPr lang="en-US" sz="2400" dirty="0">
                <a:highlight>
                  <a:srgbClr val="FFFFFF"/>
                </a:highlight>
              </a:rPr>
              <a:t>).</a:t>
            </a:r>
          </a:p>
          <a:p>
            <a:endParaRPr lang="en-US" sz="2400" dirty="0">
              <a:highlight>
                <a:srgbClr val="FFFFFF"/>
              </a:highlight>
            </a:endParaRPr>
          </a:p>
          <a:p>
            <a:r>
              <a:rPr lang="en-US" sz="2400" dirty="0">
                <a:highlight>
                  <a:srgbClr val="FFFFFF"/>
                </a:highlight>
              </a:rPr>
              <a:t>t-SNE projects high-dimensional embeddings (e.g. 768-dim T5 vectors) into 2D while preserving local </a:t>
            </a:r>
            <a:r>
              <a:rPr lang="en-US" sz="2400" dirty="0" err="1">
                <a:highlight>
                  <a:srgbClr val="FFFFFF"/>
                </a:highlight>
              </a:rPr>
              <a:t>neighbourhood</a:t>
            </a:r>
            <a:r>
              <a:rPr lang="en-US" sz="2400" dirty="0">
                <a:highlight>
                  <a:srgbClr val="FFFFFF"/>
                </a:highlight>
              </a:rPr>
              <a:t> structure — visually revealing whether the two classes (Fact / Non-Fact) form separable clusters in the learned representation space.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90A900-C274-E3FC-8F60-2A8FED12C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748" y="5226157"/>
            <a:ext cx="3461083" cy="3260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D31492-66D6-6634-02A1-D0B4D84A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026" y="5226157"/>
            <a:ext cx="3481443" cy="326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895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32F32-9E21-6D73-5697-33806DC67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BE873A-19C6-A77D-EDD1-E895DEEB0D40}"/>
              </a:ext>
            </a:extLst>
          </p:cNvPr>
          <p:cNvSpPr txBox="1"/>
          <p:nvPr/>
        </p:nvSpPr>
        <p:spPr>
          <a:xfrm>
            <a:off x="752889" y="408413"/>
            <a:ext cx="6097656" cy="6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LIME Pipeline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19FB94-F5D8-6C44-312F-5DB36B5087A6}"/>
              </a:ext>
            </a:extLst>
          </p:cNvPr>
          <p:cNvSpPr/>
          <p:nvPr/>
        </p:nvSpPr>
        <p:spPr>
          <a:xfrm>
            <a:off x="762000" y="1590262"/>
            <a:ext cx="10148047" cy="6308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highlight>
                  <a:srgbClr val="FFFFFF"/>
                </a:highlight>
              </a:rPr>
              <a:t>Accuracy only tells us </a:t>
            </a:r>
            <a:r>
              <a:rPr lang="en-US" sz="2400" i="1" dirty="0">
                <a:highlight>
                  <a:srgbClr val="FFFFFF"/>
                </a:highlight>
              </a:rPr>
              <a:t>if</a:t>
            </a:r>
            <a:r>
              <a:rPr lang="en-US" sz="2400" dirty="0">
                <a:highlight>
                  <a:srgbClr val="FFFFFF"/>
                </a:highlight>
              </a:rPr>
              <a:t> the model is right — not </a:t>
            </a:r>
            <a:r>
              <a:rPr lang="en-US" sz="2400" i="1" dirty="0">
                <a:highlight>
                  <a:srgbClr val="FFFFFF"/>
                </a:highlight>
              </a:rPr>
              <a:t>what</a:t>
            </a:r>
            <a:r>
              <a:rPr lang="en-US" sz="2400" dirty="0">
                <a:highlight>
                  <a:srgbClr val="FFFFFF"/>
                </a:highlight>
              </a:rPr>
              <a:t> it looked at to make that decision. LIME helps us peek inside the black box by highlighting which words in a sentence pushed the model toward Fact or Non-Fact</a:t>
            </a:r>
          </a:p>
          <a:p>
            <a:endParaRPr lang="en-US" sz="2400" dirty="0">
              <a:highlight>
                <a:srgbClr val="FFFFFF"/>
              </a:highlight>
            </a:endParaRPr>
          </a:p>
          <a:p>
            <a:r>
              <a:rPr lang="en-US" sz="2400" dirty="0"/>
              <a:t>Applied to top 5 model combinations ranked by test performance: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>
              <a:highlight>
                <a:srgbClr val="FFFFFF"/>
              </a:highlight>
            </a:endParaRPr>
          </a:p>
          <a:p>
            <a:endParaRPr lang="en-US" sz="2400" dirty="0">
              <a:highlight>
                <a:srgbClr val="FFFFFF"/>
              </a:highlight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067DE1-2CA2-798A-F85A-6464AC9BC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00919"/>
              </p:ext>
            </p:extLst>
          </p:nvPr>
        </p:nvGraphicFramePr>
        <p:xfrm>
          <a:off x="752889" y="3647405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943691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389641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67771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Acc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67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 + T5 (pretrained)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95.80%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01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 + T5-FT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95.38%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44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SVM + SBERT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94.96%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117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 + BERT-FT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94.96%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107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LR + XLM-FT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94.54%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450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589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5D891-5FA4-CE31-8406-EF8B8F24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4DF0CF-FB48-4AE0-8ED6-C2B1F926C48B}"/>
              </a:ext>
            </a:extLst>
          </p:cNvPr>
          <p:cNvSpPr txBox="1"/>
          <p:nvPr/>
        </p:nvSpPr>
        <p:spPr>
          <a:xfrm>
            <a:off x="752889" y="408413"/>
            <a:ext cx="6097656" cy="6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LIME Pipeline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F8461E-1A55-AAAA-3781-6AA25B54786F}"/>
              </a:ext>
            </a:extLst>
          </p:cNvPr>
          <p:cNvSpPr/>
          <p:nvPr/>
        </p:nvSpPr>
        <p:spPr>
          <a:xfrm>
            <a:off x="762000" y="1590262"/>
            <a:ext cx="10148047" cy="6308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/>
              <a:t>Example — "India launched the Ayushman Bharat scheme in 2018 to provide health insurance coverage to low-income families." (True label: Fact)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>
              <a:highlight>
                <a:srgbClr val="FFFFFF"/>
              </a:highlight>
            </a:endParaRPr>
          </a:p>
          <a:p>
            <a:endParaRPr lang="en-US" sz="2400" dirty="0">
              <a:highlight>
                <a:srgbClr val="FFFFFF"/>
              </a:highligh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BF304E-DC29-4290-9C02-5C4B9B25C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248230"/>
              </p:ext>
            </p:extLst>
          </p:nvPr>
        </p:nvGraphicFramePr>
        <p:xfrm>
          <a:off x="752889" y="3098765"/>
          <a:ext cx="10515600" cy="32918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854693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805138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870654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29410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P(Fact)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 positive signals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43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 + T5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launched, provide, coverage, insurance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827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 + T5-FT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insurance, launched, provide, 2018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585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 + SBERT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launched, India, scheme, insurance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48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 + BERT-FT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Non-Fact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Negative: </a:t>
                      </a:r>
                      <a:r>
                        <a:rPr lang="en-US" i="1"/>
                        <a:t>India, 2018, health, families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359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LR + XLM-FT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0.881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income, provide, scheme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7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020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A680-743C-4109-845E-895BD485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AF83C4-719B-302B-EEDB-0FDE0FC45121}"/>
              </a:ext>
            </a:extLst>
          </p:cNvPr>
          <p:cNvSpPr txBox="1"/>
          <p:nvPr/>
        </p:nvSpPr>
        <p:spPr>
          <a:xfrm>
            <a:off x="752889" y="408413"/>
            <a:ext cx="6097656" cy="6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LIME Pipeline</a:t>
            </a:r>
            <a:endParaRPr lang="en-US" sz="32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2380A6-8714-AAE8-1724-33DACE385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77" y="1495838"/>
            <a:ext cx="10876093" cy="657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37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D408F-1B68-D124-245F-D10D26A7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6A5AB-49A8-CB7F-4142-1C823B909E35}"/>
              </a:ext>
            </a:extLst>
          </p:cNvPr>
          <p:cNvSpPr txBox="1"/>
          <p:nvPr/>
        </p:nvSpPr>
        <p:spPr>
          <a:xfrm>
            <a:off x="752889" y="408413"/>
            <a:ext cx="6097656" cy="6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LIME Pipeline</a:t>
            </a:r>
            <a:endParaRPr lang="en-US" sz="32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16153E-4A34-7582-64E0-6B5FCFAE4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70" y="1414069"/>
            <a:ext cx="10822489" cy="653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581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A0924-A759-C554-1B7E-27DED9D85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286DD9-2F50-21E4-6849-47AD06F4609F}"/>
              </a:ext>
            </a:extLst>
          </p:cNvPr>
          <p:cNvSpPr txBox="1"/>
          <p:nvPr/>
        </p:nvSpPr>
        <p:spPr>
          <a:xfrm>
            <a:off x="752889" y="408413"/>
            <a:ext cx="6097656" cy="6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LIME Pipeline</a:t>
            </a:r>
            <a:endParaRPr lang="en-US" sz="32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5E6DEB-851C-D08A-8568-418CC51F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47" y="1318768"/>
            <a:ext cx="11277600" cy="666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29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45175-E99B-EFC8-42CB-7B54F82A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D8A2DE-DC49-7D35-F288-4CDEDBB94DE2}"/>
              </a:ext>
            </a:extLst>
          </p:cNvPr>
          <p:cNvSpPr txBox="1"/>
          <p:nvPr/>
        </p:nvSpPr>
        <p:spPr>
          <a:xfrm>
            <a:off x="752889" y="408413"/>
            <a:ext cx="6097656" cy="6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LIME Pipeline</a:t>
            </a:r>
            <a:endParaRPr lang="en-US" sz="32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AB5878-17B3-6FBE-B1C1-2A7DB8AA5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00" y="1327900"/>
            <a:ext cx="11061029" cy="670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932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F1495-9389-93CD-C0A7-EDC0C7B64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60BFE0-A3B1-F3F8-DC53-9A649F2D064E}"/>
              </a:ext>
            </a:extLst>
          </p:cNvPr>
          <p:cNvSpPr txBox="1"/>
          <p:nvPr/>
        </p:nvSpPr>
        <p:spPr>
          <a:xfrm>
            <a:off x="752889" y="408413"/>
            <a:ext cx="6097656" cy="6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LIME Pipeline</a:t>
            </a:r>
            <a:endParaRPr lang="en-US" sz="32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51A611-C705-FEFB-05A4-9E1D7E8FA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26" y="1401090"/>
            <a:ext cx="11025209" cy="662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EE3E-1396-D60D-6A76-7A399E0A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891665-3C46-1EFE-D2F1-1BC752DEEE22}"/>
              </a:ext>
            </a:extLst>
          </p:cNvPr>
          <p:cNvSpPr txBox="1"/>
          <p:nvPr/>
        </p:nvSpPr>
        <p:spPr>
          <a:xfrm>
            <a:off x="3824080" y="3518904"/>
            <a:ext cx="6097656" cy="1103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6000" b="1" dirty="0">
                <a:solidFill>
                  <a:srgbClr val="9B1B47"/>
                </a:solidFill>
                <a:latin typeface="Times New Roman"/>
                <a:ea typeface="QuattrocentoSans" pitchFamily="34" charset="-122"/>
                <a:cs typeface="Times New Roman"/>
              </a:rPr>
              <a:t>Thank You !</a:t>
            </a:r>
            <a:endParaRPr lang="en-US" sz="6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20697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Pathogenic vs Non Pathogenic Classification IBS2 project team5</Template>
  <TotalTime>611</TotalTime>
  <Words>1335</Words>
  <Application>Microsoft Office PowerPoint</Application>
  <PresentationFormat>Custom</PresentationFormat>
  <Paragraphs>706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Times New Roman</vt:lpstr>
      <vt:lpstr>Calibri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Toxic vs Non-Toxic Protein Classification Using Transformer Based Protein Embeddings and Machine Learning</dc:subject>
  <dc:creator>Navnita Krishnan</dc:creator>
  <cp:lastModifiedBy>Navnita Krishnan</cp:lastModifiedBy>
  <cp:revision>5</cp:revision>
  <dcterms:created xsi:type="dcterms:W3CDTF">2026-05-19T18:50:50Z</dcterms:created>
  <dcterms:modified xsi:type="dcterms:W3CDTF">2026-05-20T05:07:12Z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{"Label":"Toxic vs Non-Toxic Protein Classification Using Transformer Based Protein Embeddings and Machine Learning","ContentProducer":"001191110108MACG2KBH8F10000","ProduceID":"19e36b5e-f4e2-8dd4-8000-0000a10fc07c","ReservedCode1":"","ContentPropagator":"001191110108MACG2KBH8F20000","PropagateID":"19e36b5e-f4e2-8dd4-8000-0000a10fc07c","ReservedCode2":""}</vt:lpwstr>
  </property>
</Properties>
</file>